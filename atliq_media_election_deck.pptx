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1/10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85341" cy="56921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06353" y="548640"/>
            <a:ext cx="85341" cy="56921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69" y="1371600"/>
            <a:ext cx="9753356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TAMIL NADU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2228850"/>
            <a:ext cx="9753356" cy="9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A855F7"/>
                </a:solidFill>
              </a:defRPr>
            </a:pPr>
            <a:r>
              <a:t>ELECTION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03" y="3346704"/>
            <a:ext cx="9265688" cy="4800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169" y="3483864"/>
            <a:ext cx="9753356" cy="61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RECORD TURNOUT   ≠   RECORD 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4059935"/>
            <a:ext cx="975335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Final Data Analysis   |   ECI Official Data   |   AtliQ Media Decision Desk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757" y="4800600"/>
            <a:ext cx="5608179" cy="113157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A855F7"/>
                </a:solidFill>
              </a:defRPr>
            </a:pPr>
            <a:r>
              <a:t>84.69%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FINAL VOTER TURNOUT   |   HIGHEST IN TAMIL NADU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757" y="4800600"/>
            <a:ext cx="5608179" cy="4800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oting_fi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356" y="4800600"/>
            <a:ext cx="1889712" cy="1371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ATLIQ MEDIA   |   EVERY VOTE. EVERY STORY.   |   POWERED BY ECI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617219"/>
            <a:ext cx="853418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THE COMPLETE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1062990"/>
            <a:ext cx="853418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All key metrics at a glance  |  Tamil Nadu Assembly Election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792" y="1508760"/>
            <a:ext cx="2743131" cy="116586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84.69%</a:t>
            </a:r>
          </a:p>
          <a:p>
            <a:pPr algn="ctr">
              <a:defRPr sz="800" b="1">
                <a:solidFill>
                  <a:srgbClr val="94A3B8"/>
                </a:solidFill>
              </a:defRPr>
            </a:pPr>
            <a:r>
              <a:t>FINAL TURNOUT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792" y="1508760"/>
            <a:ext cx="2743131" cy="4800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94224" y="1508760"/>
            <a:ext cx="2743131" cy="116586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5.73 Cr</a:t>
            </a:r>
          </a:p>
          <a:p>
            <a:pPr algn="ctr">
              <a:defRPr sz="800" b="1">
                <a:solidFill>
                  <a:srgbClr val="94A3B8"/>
                </a:solidFill>
              </a:defRPr>
            </a:pPr>
            <a:r>
              <a:t>ELECTORATE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4224" y="1508760"/>
            <a:ext cx="2743131" cy="4800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3655" y="1508760"/>
            <a:ext cx="2743131" cy="116586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4.83 Cr</a:t>
            </a:r>
          </a:p>
          <a:p>
            <a:pPr algn="ctr">
              <a:defRPr sz="800" b="1">
                <a:solidFill>
                  <a:srgbClr val="94A3B8"/>
                </a:solidFill>
              </a:defRPr>
            </a:pPr>
            <a:r>
              <a:t>VOTES POLLED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3655" y="1508760"/>
            <a:ext cx="2743131" cy="480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73087" y="1508760"/>
            <a:ext cx="2743131" cy="116586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46 Lakh</a:t>
            </a:r>
          </a:p>
          <a:p>
            <a:pPr algn="ctr">
              <a:defRPr sz="800" b="1">
                <a:solidFill>
                  <a:srgbClr val="94A3B8"/>
                </a:solidFill>
              </a:defRPr>
            </a:pPr>
            <a:r>
              <a:t>NET SIR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3087" y="1508760"/>
            <a:ext cx="2743131" cy="4800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4792" y="2880360"/>
            <a:ext cx="5547221" cy="315468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2962656"/>
            <a:ext cx="5120511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ELECTORATE BREAKUP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346704"/>
            <a:ext cx="518147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2869" y="3415284"/>
            <a:ext cx="146300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" y="3758184"/>
            <a:ext cx="146300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2.80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9" y="4210812"/>
            <a:ext cx="1463003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83.57% turnout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131" y="3415284"/>
            <a:ext cx="146300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FEMALE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131" y="3758184"/>
            <a:ext cx="146300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2.93 Crore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131" y="4210812"/>
            <a:ext cx="1463003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85.76% turnout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393" y="3415284"/>
            <a:ext cx="146300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3RD GENDER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3393" y="3758184"/>
            <a:ext cx="146300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7,728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3393" y="4210812"/>
            <a:ext cx="1463003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60.49% turnout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67" y="4663440"/>
            <a:ext cx="5181470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" y="4745736"/>
            <a:ext cx="53643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Female voters: 51.13% of base  |  Female turnout LEADS male by 2.19%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0" y="5143500"/>
            <a:ext cx="536434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Key deciding factor in the 2026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764" y="2880360"/>
            <a:ext cx="5669138" cy="315468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639" y="2962656"/>
            <a:ext cx="536434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REAL INSIGHT: THE SIR EFFECT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7215" y="3346704"/>
            <a:ext cx="526681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639" y="3442716"/>
            <a:ext cx="1889712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56 LAKH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311" y="3442716"/>
            <a:ext cx="3352716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voters REMOVED from rolls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639" y="4039361"/>
            <a:ext cx="1889712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10 LAKH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311" y="4039361"/>
            <a:ext cx="3352716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new voters ADDED to rolls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639" y="4636007"/>
            <a:ext cx="1889712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46 LAKH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1311" y="4636007"/>
            <a:ext cx="3352716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NET reduction in voter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639" y="5232653"/>
            <a:ext cx="1889712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+20 LAKH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1311" y="5232653"/>
            <a:ext cx="3352716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actual vote count increase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7215" y="5897880"/>
            <a:ext cx="5266812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5298" y="5966460"/>
            <a:ext cx="548626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Smaller base + same voters = higher % without a massive new swing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RECORD TURNOUT % IS DRIVEN BY A SMALLER BASE  |  NOT A MASSIVE NEW VOTER WAVE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617219"/>
            <a:ext cx="97533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TURNOUT &amp; VOTES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110996"/>
            <a:ext cx="97533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2021 vs 2026   |   ECI Audited Official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50" y="1611630"/>
            <a:ext cx="5120511" cy="373761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0" y="1611630"/>
            <a:ext cx="5120511" cy="4800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584" y="1700784"/>
            <a:ext cx="463284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</a:defRPr>
            </a:pPr>
            <a: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228850"/>
            <a:ext cx="463284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ELECTION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" y="2578608"/>
            <a:ext cx="4657227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" y="2688336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6.29 CRORE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3182112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Total Electorate (Voters)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3483864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4.63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" y="3977639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Votes Polled (Actual)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" y="4279392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73.38%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" y="4773168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Turnout Percentage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" y="5074920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26.62%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5568696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Voters Who Did Not Vote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511" y="3360420"/>
            <a:ext cx="1889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A855F7"/>
                </a:solidFill>
              </a:defRPr>
            </a:pPr>
            <a: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1048" y="1611630"/>
            <a:ext cx="5120511" cy="373761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81048" y="1611630"/>
            <a:ext cx="5120511" cy="480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4882" y="1700784"/>
            <a:ext cx="463284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4882" y="2228850"/>
            <a:ext cx="463284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ELECTION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24882" y="2578608"/>
            <a:ext cx="4657227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4882" y="2688336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5.73 CRORE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882" y="3182112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Total Electorate (Voters)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4882" y="3483864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4.83 CRORE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4882" y="3977639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Votes Polled (Actual)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4882" y="4279392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84.69%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882" y="4773168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Turnout Percentage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4882" y="5074920"/>
            <a:ext cx="4632844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15.31%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4882" y="5568696"/>
            <a:ext cx="463284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Voters Who Did Not Vote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50" y="5541264"/>
            <a:ext cx="11435810" cy="54864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5582412"/>
            <a:ext cx="1119197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WHAT CHANGED?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Electorate: 56 Lakh REDUCTION   |   Votes Polled: +20 Lakh   |   Turnout %: +11.31%   |   Net story: Same voters, smaller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MORE PEOPLE CAME OUT TO VOTE   |   BUT NET INCREASE IS ONLY 20 LAKH VOTES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617219"/>
            <a:ext cx="97533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VOTER BASE &amp; SIR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110996"/>
            <a:ext cx="97533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Breaking Down the Numbers   |   ECI Special Intensive Revision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217" y="1577340"/>
            <a:ext cx="3657508" cy="445770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4" y="1659636"/>
            <a:ext cx="329175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1  SIR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4" y="2029967"/>
            <a:ext cx="329175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Special Intensive Revision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4" y="2331720"/>
            <a:ext cx="3291757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4" y="2414015"/>
            <a:ext cx="3291757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56 LAKH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Voters Removed from List</a:t>
            </a:r>
          </a:p>
          <a:p>
            <a:pPr algn="ctr">
              <a:defRPr sz="400" b="0">
                <a:solidFill>
                  <a:srgbClr val="FFFFFF"/>
                </a:solidFill>
              </a:defRPr>
            </a:pP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10 LAKH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New Voters Added to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284" y="4375404"/>
            <a:ext cx="3291757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84" y="4443984"/>
            <a:ext cx="329175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46 LAKH NET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Reduction in Voter List</a:t>
            </a:r>
          </a:p>
          <a:p>
            <a:pPr algn="ctr">
              <a:defRPr sz="850" b="0">
                <a:solidFill>
                  <a:srgbClr val="94A3B8"/>
                </a:solidFill>
              </a:defRPr>
            </a:pPr>
            <a:r>
              <a:t>6.29 Cr (2021)  →  5.73 Cr (2026)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518" y="1577340"/>
            <a:ext cx="3657508" cy="445770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393" y="1659636"/>
            <a:ext cx="329175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2  ELECTORATE BREAKUP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3393" y="2029967"/>
            <a:ext cx="329175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2026 ECI Audited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3393" y="2331720"/>
            <a:ext cx="3291757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3393" y="2414015"/>
            <a:ext cx="329175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3393" y="2756915"/>
            <a:ext cx="32917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2.80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393" y="3202686"/>
            <a:ext cx="32917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83.57% turnout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393" y="3360420"/>
            <a:ext cx="329175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FEMALE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3393" y="3703320"/>
            <a:ext cx="32917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2.93 Crore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3393" y="4149089"/>
            <a:ext cx="32917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85.76% turnout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393" y="4306824"/>
            <a:ext cx="329175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3RD GENDER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3393" y="4649724"/>
            <a:ext cx="32917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7,728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3393" y="5095494"/>
            <a:ext cx="32917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60.49% turnout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393" y="5184648"/>
            <a:ext cx="3291757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3393" y="5246370"/>
            <a:ext cx="329175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Female voters: 51.13% of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3393" y="5541264"/>
            <a:ext cx="329175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Female turnout LEADS by 2.19%  —  Decisive Factor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2819" y="1577340"/>
            <a:ext cx="3657508" cy="445770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7886" y="1659636"/>
            <a:ext cx="329175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3  WHAT DOES IT MEAN?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7886" y="2029967"/>
            <a:ext cx="329175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The Base Change Effect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7886" y="2331720"/>
            <a:ext cx="3291757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269" y="2414015"/>
            <a:ext cx="3267374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x  Voter base shrank by 46 Lakh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269" y="2907791"/>
            <a:ext cx="3267374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x  Turnout jumped +11.31%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269" y="3401568"/>
            <a:ext cx="3267374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x  Actual votes up only 20 Lakh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269" y="3895344"/>
            <a:ext cx="3267374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x  High % = smaller denominator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7886" y="4443984"/>
            <a:ext cx="3291757" cy="411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7886" y="4526280"/>
            <a:ext cx="3267374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REALITY CHECK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Higher turnout % is mainly because of a smaller voter base, not a massive new voter wave.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VOTER LIST REDUCED   |   TURNOUT % UP   |   REAL VOTE GAIN ONLY 20 LAKH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617219"/>
            <a:ext cx="97533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WAVE vs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110996"/>
            <a:ext cx="97533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What the Numbers Really Tell Us   |   Perception vs Ground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792" y="1611630"/>
            <a:ext cx="5486262" cy="438912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792" y="1611630"/>
            <a:ext cx="5486262" cy="4800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1700784"/>
            <a:ext cx="5059553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WHAT IT LOOKS LIKE  (ON PAPER)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2208276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Statewide Turnout: 84.69%  (Highest Ever)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2729484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Percentage Jump: +11.31% Statewide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67" y="3250692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Social Media: "Massive Wave"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" y="3771900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Alliance Perception: Total Dravidian Wipeout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67" y="4293108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Debutant TVK: Landslide Mandate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26" y="4924044"/>
            <a:ext cx="5120511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5006340"/>
            <a:ext cx="512051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PERCEPTION:  TSUNAMI  /  BIG SWING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67" y="5390388"/>
            <a:ext cx="51205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Widespread media &amp; social consensus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4895" y="3360420"/>
            <a:ext cx="1889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855F7"/>
                </a:solidFill>
              </a:defRPr>
            </a:pPr>
            <a: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639" y="1611630"/>
            <a:ext cx="5486262" cy="438912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639" y="1611630"/>
            <a:ext cx="5486262" cy="480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515" y="1700784"/>
            <a:ext cx="5059553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WHAT IT REALLY IS  (ON GROUND)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515" y="2208276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Actual Vote Increase: ONLY 20 LAKH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515" y="2729484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Voter Base Shrank: 56 LAKH via 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515" y="3250692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Same voters active, not a mass new swing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515" y="3771900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Localized, fierce constituency-level battles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515" y="4293108"/>
            <a:ext cx="5120511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o  High participation, no runaway majority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4473" y="4924044"/>
            <a:ext cx="5120511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515" y="5006340"/>
            <a:ext cx="512051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REALITY:  HIGH PARTICIPATION, CLOSE CONTEST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515" y="5390388"/>
            <a:ext cx="51205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ECI data confirms measured shift, not a tsunami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4792" y="5884164"/>
            <a:ext cx="11582110" cy="308609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284" y="5925312"/>
            <a:ext cx="11338276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KEY TAKEAWAY:  </a:t>
            </a:r>
          </a:p>
          <a:p>
            <a:pPr algn="l">
              <a:defRPr sz="950" b="0">
                <a:solidFill>
                  <a:srgbClr val="FFFFFF"/>
                </a:solidFill>
              </a:defRPr>
            </a:pPr>
            <a:r>
              <a:t>Percentage increase does not equal a statewide wave. The real vote count proves a highly competitive, close fight.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HIGH TURNOUT: YES   |   HUGE SWING: NO   |   RECORD TURNOUT ≠ RECORD WAVE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617219"/>
            <a:ext cx="853418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ASSEMBLY SEAT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1083564"/>
            <a:ext cx="853418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Shattering the Dravidian Duopoly   |   234 Total Seats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1495044"/>
            <a:ext cx="5973930" cy="4594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27349" y="1495044"/>
            <a:ext cx="5059553" cy="1014983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27349" y="1495044"/>
            <a:ext cx="85341" cy="1014983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1183" y="1577340"/>
            <a:ext cx="2438339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A855F7"/>
                </a:solidFill>
              </a:defRPr>
            </a:pPr>
            <a:r>
              <a:t>TVK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1854" y="1549908"/>
            <a:ext cx="243833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108 Seats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1183" y="1961388"/>
            <a:ext cx="45109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Debutant tops table. Largest single</a:t>
            </a:r>
            <a:br/>
            <a:r>
              <a:t>formation. 2021: 0 seats.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7349" y="2626614"/>
            <a:ext cx="5059553" cy="1014983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27349" y="2626614"/>
            <a:ext cx="85341" cy="1014983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1183" y="2708910"/>
            <a:ext cx="2438339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6B6D4"/>
                </a:solidFill>
              </a:defRPr>
            </a:pPr>
            <a:r>
              <a:t>DMK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1854" y="2681478"/>
            <a:ext cx="243833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59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1183" y="3092958"/>
            <a:ext cx="45109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Collapsed from 133 (2021).</a:t>
            </a:r>
            <a:br/>
            <a:r>
              <a:t>Lost 74 seats in one election.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7349" y="3758184"/>
            <a:ext cx="5059553" cy="1014983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27349" y="3758184"/>
            <a:ext cx="85341" cy="101498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1183" y="3840480"/>
            <a:ext cx="2438339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0B981"/>
                </a:solidFill>
              </a:defRPr>
            </a:pPr>
            <a:r>
              <a:t>AIADMK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1854" y="3813048"/>
            <a:ext cx="243833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47 Seats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1183" y="4224528"/>
            <a:ext cx="45109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Slipped to third. Down from</a:t>
            </a:r>
            <a:br/>
            <a:r>
              <a:t>66 seats in 2021.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27349" y="4889754"/>
            <a:ext cx="5059553" cy="1014983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27349" y="4889754"/>
            <a:ext cx="85341" cy="101498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1183" y="4972050"/>
            <a:ext cx="2438339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</a:defRPr>
            </a:pPr>
            <a:r>
              <a:t>INC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854" y="4944618"/>
            <a:ext cx="243833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 Seats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1183" y="5356098"/>
            <a:ext cx="45109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Severe decline from 18 seats.</a:t>
            </a:r>
            <a:br/>
            <a:r>
              <a:t>National partner marginalised.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TRI-POLAR ERA BEGINS   |   NO SINGLE MAJORITY   |   TVK LARGEST SINGLE 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617219"/>
            <a:ext cx="853418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VOLATILITY INDEX &amp; VOTER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1083564"/>
            <a:ext cx="853418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Where did TVK's 108 seats come from?   |   Statewide churn analysis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3" y="1495044"/>
            <a:ext cx="5852013" cy="4594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61598" y="1495044"/>
            <a:ext cx="5425304" cy="133731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A855F7"/>
                </a:solidFill>
              </a:defRPr>
            </a:pPr>
            <a:r>
              <a:t>69.7%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STATEWIDE VOLATILITY INDEX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163 of 234 constituencies changed hands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1598" y="2948940"/>
            <a:ext cx="5425304" cy="466344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048" y="3003804"/>
            <a:ext cx="97533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8301" y="3051810"/>
            <a:ext cx="3901342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Seats gained from DMK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1598" y="3483864"/>
            <a:ext cx="5425304" cy="466344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1048" y="3538728"/>
            <a:ext cx="97533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8301" y="3586734"/>
            <a:ext cx="3901342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Seats gained from AIADMK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1598" y="4018787"/>
            <a:ext cx="5425304" cy="466344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1048" y="4073652"/>
            <a:ext cx="97533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8301" y="4121658"/>
            <a:ext cx="3901342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Seats gained from INC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1598" y="4553712"/>
            <a:ext cx="5425304" cy="466344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1048" y="4608576"/>
            <a:ext cx="97533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8301" y="4656582"/>
            <a:ext cx="3901342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Seats from all others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1598" y="5129784"/>
            <a:ext cx="5425304" cy="822959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7898" y="5212080"/>
            <a:ext cx="51205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DMK donated 60.2% of TVK's total seat count</a:t>
            </a:r>
          </a:p>
          <a:p>
            <a:pPr algn="ctr">
              <a:defRPr sz="850" b="0">
                <a:solidFill>
                  <a:srgbClr val="94A3B8"/>
                </a:solidFill>
              </a:defRPr>
            </a:pPr>
            <a:r>
              <a:t>Biggest single mandate transfer in Tamil Nadu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163 FLIPS   |   69.7% VOLATILITY   |   HIGHEST EVER SEAT CHURN IN TAMIL NADU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617219"/>
            <a:ext cx="975335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REGIONAL STRONGHOLD REVERSALS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083564"/>
            <a:ext cx="97533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Chennai Metro Swept   |   Kongu Bastion Collapsed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1577340"/>
            <a:ext cx="5486262" cy="4251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215" y="1577340"/>
            <a:ext cx="5486262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792" y="5911596"/>
            <a:ext cx="5486262" cy="27432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TVK swept 29/32 Chennai seats  |  DMK 2021 stronghold zeroed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215" y="5911596"/>
            <a:ext cx="5486262" cy="27432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AIADMK Kongu bastion: 19  →  7   |   TVK wins 16 of 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URBAN CORE SWEPT + RURAL STRONGHOLD CRACKED  =  TVK'S WINNING FORMULA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617219"/>
            <a:ext cx="853418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SWING SEAT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1083564"/>
            <a:ext cx="853418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Micro-Level Predictive Analytics   |   AtliQ Media Decision Model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3" y="1495044"/>
            <a:ext cx="6339681" cy="4594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10224" y="1495044"/>
            <a:ext cx="4876678" cy="126873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70.94%</a:t>
            </a:r>
          </a:p>
          <a:p>
            <a:pPr algn="ctr">
              <a:defRPr sz="850" b="1">
                <a:solidFill>
                  <a:srgbClr val="94A3B8"/>
                </a:solidFill>
              </a:defRPr>
            </a:pPr>
            <a:r>
              <a:t>MODEL CLASSIFICATION ACCURACY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Supervised classifier on ECI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10224" y="2866644"/>
            <a:ext cx="4876678" cy="3223260"/>
          </a:xfrm>
          <a:prstGeom prst="roundRect">
            <a:avLst/>
          </a:prstGeom>
          <a:solidFill>
            <a:srgbClr val="131844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3100" y="2948940"/>
            <a:ext cx="451092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KEY MODEL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3100" y="3305556"/>
            <a:ext cx="4510927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141" y="3387852"/>
            <a:ext cx="457188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</a:defRPr>
            </a:pPr>
            <a:r>
              <a:t>o  Turnout surge: strongest predictor of a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141" y="3895344"/>
            <a:ext cx="457188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</a:defRPr>
            </a:pPr>
            <a:r>
              <a:t>o  High 2021 margins resisted seat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141" y="4402836"/>
            <a:ext cx="457188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</a:defRPr>
            </a:pPr>
            <a:r>
              <a:t>o  Low margin + high surge = near-certain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141" y="4910327"/>
            <a:ext cx="457188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</a:defRPr>
            </a:pPr>
            <a:r>
              <a:t>o  Model called TVK plurality before 6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141" y="5417819"/>
            <a:ext cx="457188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</a:defRPr>
            </a:pPr>
            <a:r>
              <a:t>o  Signals visible from 60% vote count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TURNOUT SURGE IS THE SINGLE STRONGEST PREDICTOR OF SEAT FLIPS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792" y="68580"/>
            <a:ext cx="999719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TAMIL NADU ELECTION 2026   |   ATLIQ MEDIA DECISION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6774" y="89153"/>
            <a:ext cx="1402044" cy="377190"/>
          </a:xfrm>
          <a:prstGeom prst="roundRect">
            <a:avLst/>
          </a:prstGeom>
          <a:solidFill>
            <a:srgbClr val="0A0E2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SLIDE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617219"/>
            <a:ext cx="9753356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FINAL VERDICT   |   THE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083564"/>
            <a:ext cx="97533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1-Hour Broadcast Show Flow   |   AtliQ Media Production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217" y="1577340"/>
            <a:ext cx="5510646" cy="445770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4" y="1659636"/>
            <a:ext cx="5120511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1-HOUR BROADCAST SHOW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4" y="2043684"/>
            <a:ext cx="5120511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67" y="2139696"/>
            <a:ext cx="85341" cy="8572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01" y="2194560"/>
            <a:ext cx="475476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855F7"/>
                </a:solidFill>
              </a:defRPr>
            </a:pPr>
            <a:r>
              <a:t>Act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01" y="2441448"/>
            <a:ext cx="47547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The Shock   (0-15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01" y="2729484"/>
            <a:ext cx="4754761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Statewide shifts, TVK incursion, ECI base stats and the 20 Lakh reveal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3182112"/>
            <a:ext cx="85341" cy="8572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01" y="3236976"/>
            <a:ext cx="475476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6B6D4"/>
                </a:solidFill>
              </a:defRPr>
            </a:pPr>
            <a:r>
              <a:t>Act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01" y="3483864"/>
            <a:ext cx="47547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The Strongholds   (15-35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" y="3771900"/>
            <a:ext cx="4754761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Regional spotlights, Chennai Metro sweep and Kongu bastion collapse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67" y="4224528"/>
            <a:ext cx="85341" cy="8572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01" y="4279392"/>
            <a:ext cx="475476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</a:defRPr>
            </a:pPr>
            <a:r>
              <a:t>Act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" y="4526280"/>
            <a:ext cx="47547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The Churn   (35-50 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01" y="4814316"/>
            <a:ext cx="4754761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Volatility index, direct seat flips, AtliQ predictor model live reveal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5266944"/>
            <a:ext cx="85341" cy="857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01" y="5321808"/>
            <a:ext cx="475476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</a:defRPr>
            </a:pPr>
            <a:r>
              <a:t>Act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01" y="5568696"/>
            <a:ext cx="47547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Integrity   (50-60 min)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01" y="5856732"/>
            <a:ext cx="4754761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Turnout arithmetic, methodology disclosure, panel grounded in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6531" y="1577340"/>
            <a:ext cx="5608179" cy="4457700"/>
          </a:xfrm>
          <a:prstGeom prst="roundRect">
            <a:avLst/>
          </a:prstGeom>
          <a:solidFill>
            <a:srgbClr val="0D11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598" y="1659636"/>
            <a:ext cx="5218045" cy="3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FINAL VERDICT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598" y="2043684"/>
            <a:ext cx="5218045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598" y="2125980"/>
            <a:ext cx="521804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Record Turnout   ≠   Record Wave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More people came out to vote, but the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net increase is only 20 Lakh actual votes.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Voter list reduction (SIR) artificially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inflated the turnout percentage.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Contest remained highly close &amp; competitive</a:t>
            </a:r>
          </a:p>
          <a:p>
            <a:pPr algn="ctr">
              <a:defRPr sz="900" b="0">
                <a:solidFill>
                  <a:srgbClr val="94A3B8"/>
                </a:solidFill>
              </a:defRPr>
            </a:pPr>
            <a:r>
              <a:t>with no sweeping statewide tsunami wave.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598" y="4732020"/>
            <a:ext cx="5218045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598" y="4800600"/>
            <a:ext cx="521804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EVERY VOTE 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598" y="5184648"/>
            <a:ext cx="5218045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DEMOCRACY WINS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598" y="5541264"/>
            <a:ext cx="521804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DATA TELLS THE TRUTH</a:t>
            </a:r>
          </a:p>
        </p:txBody>
      </p:sp>
      <p:pic>
        <p:nvPicPr>
          <p:cNvPr id="34" name="Picture 33" descr="voting_fi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324" y="5006340"/>
            <a:ext cx="1341086" cy="10972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240780"/>
            <a:ext cx="12191695" cy="617219"/>
          </a:xfrm>
          <a:prstGeom prst="rect">
            <a:avLst/>
          </a:prstGeom>
          <a:solidFill>
            <a:srgbClr val="0D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2407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3833" y="6323076"/>
            <a:ext cx="11704027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ATLIQ MEDIA   |   FACT-BASED ELECTION COVERAGE   |   POWERED BY ECI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